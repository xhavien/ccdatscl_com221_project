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Glacial Indifference" charset="1" panose="000000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9720" y="8398510"/>
            <a:ext cx="1719580" cy="1719580"/>
          </a:xfrm>
          <a:custGeom>
            <a:avLst/>
            <a:gdLst/>
            <a:ahLst/>
            <a:cxnLst/>
            <a:rect r="r" b="b" t="t" l="l"/>
            <a:pathLst>
              <a:path h="1719580" w="1719580">
                <a:moveTo>
                  <a:pt x="0" y="0"/>
                </a:moveTo>
                <a:lnTo>
                  <a:pt x="1719580" y="0"/>
                </a:lnTo>
                <a:lnTo>
                  <a:pt x="1719580" y="1719580"/>
                </a:lnTo>
                <a:lnTo>
                  <a:pt x="0" y="1719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116745"/>
            <a:ext cx="13322779" cy="283109"/>
          </a:xfrm>
          <a:custGeom>
            <a:avLst/>
            <a:gdLst/>
            <a:ahLst/>
            <a:cxnLst/>
            <a:rect r="r" b="b" t="t" l="l"/>
            <a:pathLst>
              <a:path h="283109" w="13322779">
                <a:moveTo>
                  <a:pt x="0" y="0"/>
                </a:moveTo>
                <a:lnTo>
                  <a:pt x="13322779" y="0"/>
                </a:lnTo>
                <a:lnTo>
                  <a:pt x="13322779" y="283110"/>
                </a:lnTo>
                <a:lnTo>
                  <a:pt x="0" y="283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25560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464305" y="9137904"/>
            <a:ext cx="240791" cy="2407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655173"/>
            <a:ext cx="1255776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</a:t>
            </a: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oral and Behavioral Factors Driving Song Skip </a:t>
            </a:r>
            <a:r>
              <a:rPr lang="en-US" sz="3399">
                <a:solidFill>
                  <a:srgbClr val="00BF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Predictions in Personal Spotify Streaming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392524"/>
            <a:ext cx="1064030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Xavier P. Pagdanganan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CCIT - National University Philippines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39720" y="8398510"/>
            <a:ext cx="1719580" cy="1719580"/>
          </a:xfrm>
          <a:custGeom>
            <a:avLst/>
            <a:gdLst/>
            <a:ahLst/>
            <a:cxnLst/>
            <a:rect r="r" b="b" t="t" l="l"/>
            <a:pathLst>
              <a:path h="1719580" w="1719580">
                <a:moveTo>
                  <a:pt x="0" y="0"/>
                </a:moveTo>
                <a:lnTo>
                  <a:pt x="1719580" y="0"/>
                </a:lnTo>
                <a:lnTo>
                  <a:pt x="1719580" y="1719580"/>
                </a:lnTo>
                <a:lnTo>
                  <a:pt x="0" y="1719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116745"/>
            <a:ext cx="13322779" cy="283109"/>
          </a:xfrm>
          <a:custGeom>
            <a:avLst/>
            <a:gdLst/>
            <a:ahLst/>
            <a:cxnLst/>
            <a:rect r="r" b="b" t="t" l="l"/>
            <a:pathLst>
              <a:path h="283109" w="13322779">
                <a:moveTo>
                  <a:pt x="0" y="0"/>
                </a:moveTo>
                <a:lnTo>
                  <a:pt x="13322779" y="0"/>
                </a:lnTo>
                <a:lnTo>
                  <a:pt x="13322779" y="283110"/>
                </a:lnTo>
                <a:lnTo>
                  <a:pt x="0" y="283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39250"/>
            <a:ext cx="25560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492267" y="9159063"/>
            <a:ext cx="240791" cy="2407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741037" y="3215520"/>
            <a:ext cx="3690846" cy="4228121"/>
          </a:xfrm>
          <a:custGeom>
            <a:avLst/>
            <a:gdLst/>
            <a:ahLst/>
            <a:cxnLst/>
            <a:rect r="r" b="b" t="t" l="l"/>
            <a:pathLst>
              <a:path h="4228121" w="3690846">
                <a:moveTo>
                  <a:pt x="0" y="0"/>
                </a:moveTo>
                <a:lnTo>
                  <a:pt x="3690846" y="0"/>
                </a:lnTo>
                <a:lnTo>
                  <a:pt x="3690846" y="4228121"/>
                </a:lnTo>
                <a:lnTo>
                  <a:pt x="0" y="42281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1255776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&amp; 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438482"/>
            <a:ext cx="5408717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Quantified Self: Tracking digital habits.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Problem: Identifying patterns in skip behavior.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Objectives: Collect, analyze, and predict.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Scope: Two-month personal listening history.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427336" y="2438482"/>
            <a:ext cx="431824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Science Workflow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0"/>
            <a:ext cx="18288000" cy="9029700"/>
          </a:xfrm>
          <a:custGeom>
            <a:avLst/>
            <a:gdLst/>
            <a:ahLst/>
            <a:cxnLst/>
            <a:rect r="r" b="b" t="t" l="l"/>
            <a:pathLst>
              <a:path h="9029700" w="18288000">
                <a:moveTo>
                  <a:pt x="0" y="0"/>
                </a:moveTo>
                <a:lnTo>
                  <a:pt x="18288000" y="0"/>
                </a:lnTo>
                <a:lnTo>
                  <a:pt x="18288000" y="9029700"/>
                </a:lnTo>
                <a:lnTo>
                  <a:pt x="0" y="9029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6223" y="9526179"/>
            <a:ext cx="10235554" cy="549423"/>
          </a:xfrm>
          <a:custGeom>
            <a:avLst/>
            <a:gdLst/>
            <a:ahLst/>
            <a:cxnLst/>
            <a:rect r="r" b="b" t="t" l="l"/>
            <a:pathLst>
              <a:path h="549423" w="10235554">
                <a:moveTo>
                  <a:pt x="0" y="0"/>
                </a:moveTo>
                <a:lnTo>
                  <a:pt x="10235554" y="0"/>
                </a:lnTo>
                <a:lnTo>
                  <a:pt x="10235554" y="549423"/>
                </a:lnTo>
                <a:lnTo>
                  <a:pt x="0" y="549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0762" y="1028700"/>
            <a:ext cx="13526477" cy="1530019"/>
          </a:xfrm>
          <a:custGeom>
            <a:avLst/>
            <a:gdLst/>
            <a:ahLst/>
            <a:cxnLst/>
            <a:rect r="r" b="b" t="t" l="l"/>
            <a:pathLst>
              <a:path h="1530019" w="13526477">
                <a:moveTo>
                  <a:pt x="0" y="0"/>
                </a:moveTo>
                <a:lnTo>
                  <a:pt x="13526476" y="0"/>
                </a:lnTo>
                <a:lnTo>
                  <a:pt x="13526476" y="1530019"/>
                </a:lnTo>
                <a:lnTo>
                  <a:pt x="0" y="1530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06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72071" y="3154236"/>
            <a:ext cx="11743857" cy="4880275"/>
          </a:xfrm>
          <a:custGeom>
            <a:avLst/>
            <a:gdLst/>
            <a:ahLst/>
            <a:cxnLst/>
            <a:rect r="r" b="b" t="t" l="l"/>
            <a:pathLst>
              <a:path h="4880275" w="11743857">
                <a:moveTo>
                  <a:pt x="0" y="0"/>
                </a:moveTo>
                <a:lnTo>
                  <a:pt x="11743858" y="0"/>
                </a:lnTo>
                <a:lnTo>
                  <a:pt x="11743858" y="4880274"/>
                </a:lnTo>
                <a:lnTo>
                  <a:pt x="0" y="4880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62756" y="9258300"/>
            <a:ext cx="13962489" cy="463598"/>
          </a:xfrm>
          <a:custGeom>
            <a:avLst/>
            <a:gdLst/>
            <a:ahLst/>
            <a:cxnLst/>
            <a:rect r="r" b="b" t="t" l="l"/>
            <a:pathLst>
              <a:path h="463598" w="13962489">
                <a:moveTo>
                  <a:pt x="0" y="0"/>
                </a:moveTo>
                <a:lnTo>
                  <a:pt x="13962488" y="0"/>
                </a:lnTo>
                <a:lnTo>
                  <a:pt x="13962488" y="463598"/>
                </a:lnTo>
                <a:lnTo>
                  <a:pt x="0" y="463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4348819" cy="1713957"/>
          </a:xfrm>
          <a:custGeom>
            <a:avLst/>
            <a:gdLst/>
            <a:ahLst/>
            <a:cxnLst/>
            <a:rect r="r" b="b" t="t" l="l"/>
            <a:pathLst>
              <a:path h="1713957" w="14348819">
                <a:moveTo>
                  <a:pt x="0" y="0"/>
                </a:moveTo>
                <a:lnTo>
                  <a:pt x="14348819" y="0"/>
                </a:lnTo>
                <a:lnTo>
                  <a:pt x="14348819" y="1713957"/>
                </a:lnTo>
                <a:lnTo>
                  <a:pt x="0" y="1713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117" r="0" b="-1911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0479" y="2921376"/>
            <a:ext cx="2271364" cy="2698458"/>
          </a:xfrm>
          <a:custGeom>
            <a:avLst/>
            <a:gdLst/>
            <a:ahLst/>
            <a:cxnLst/>
            <a:rect r="r" b="b" t="t" l="l"/>
            <a:pathLst>
              <a:path h="2698458" w="2271364">
                <a:moveTo>
                  <a:pt x="0" y="0"/>
                </a:moveTo>
                <a:lnTo>
                  <a:pt x="2271364" y="0"/>
                </a:lnTo>
                <a:lnTo>
                  <a:pt x="2271364" y="2698458"/>
                </a:lnTo>
                <a:lnTo>
                  <a:pt x="0" y="2698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41492" y="2921376"/>
            <a:ext cx="5030128" cy="6073414"/>
          </a:xfrm>
          <a:custGeom>
            <a:avLst/>
            <a:gdLst/>
            <a:ahLst/>
            <a:cxnLst/>
            <a:rect r="r" b="b" t="t" l="l"/>
            <a:pathLst>
              <a:path h="6073414" w="5030128">
                <a:moveTo>
                  <a:pt x="0" y="0"/>
                </a:moveTo>
                <a:lnTo>
                  <a:pt x="5030128" y="0"/>
                </a:lnTo>
                <a:lnTo>
                  <a:pt x="5030128" y="6073414"/>
                </a:lnTo>
                <a:lnTo>
                  <a:pt x="0" y="6073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258300"/>
            <a:ext cx="13493652" cy="391499"/>
          </a:xfrm>
          <a:custGeom>
            <a:avLst/>
            <a:gdLst/>
            <a:ahLst/>
            <a:cxnLst/>
            <a:rect r="r" b="b" t="t" l="l"/>
            <a:pathLst>
              <a:path h="391499" w="13493652">
                <a:moveTo>
                  <a:pt x="0" y="0"/>
                </a:moveTo>
                <a:lnTo>
                  <a:pt x="13493652" y="0"/>
                </a:lnTo>
                <a:lnTo>
                  <a:pt x="13493652" y="391499"/>
                </a:lnTo>
                <a:lnTo>
                  <a:pt x="0" y="391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22622" y="3025119"/>
            <a:ext cx="5418871" cy="2932964"/>
          </a:xfrm>
          <a:custGeom>
            <a:avLst/>
            <a:gdLst/>
            <a:ahLst/>
            <a:cxnLst/>
            <a:rect r="r" b="b" t="t" l="l"/>
            <a:pathLst>
              <a:path h="2932964" w="5418871">
                <a:moveTo>
                  <a:pt x="0" y="0"/>
                </a:moveTo>
                <a:lnTo>
                  <a:pt x="5418870" y="0"/>
                </a:lnTo>
                <a:lnTo>
                  <a:pt x="5418870" y="2932964"/>
                </a:lnTo>
                <a:lnTo>
                  <a:pt x="0" y="29329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8380" y="520922"/>
            <a:ext cx="10446659" cy="2254675"/>
          </a:xfrm>
          <a:custGeom>
            <a:avLst/>
            <a:gdLst/>
            <a:ahLst/>
            <a:cxnLst/>
            <a:rect r="r" b="b" t="t" l="l"/>
            <a:pathLst>
              <a:path h="2254675" w="10446659">
                <a:moveTo>
                  <a:pt x="0" y="0"/>
                </a:moveTo>
                <a:lnTo>
                  <a:pt x="10446658" y="0"/>
                </a:lnTo>
                <a:lnTo>
                  <a:pt x="10446658" y="2254675"/>
                </a:lnTo>
                <a:lnTo>
                  <a:pt x="0" y="2254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1690" y="2365571"/>
            <a:ext cx="10504620" cy="5555859"/>
          </a:xfrm>
          <a:custGeom>
            <a:avLst/>
            <a:gdLst/>
            <a:ahLst/>
            <a:cxnLst/>
            <a:rect r="r" b="b" t="t" l="l"/>
            <a:pathLst>
              <a:path h="5555859" w="10504620">
                <a:moveTo>
                  <a:pt x="0" y="0"/>
                </a:moveTo>
                <a:lnTo>
                  <a:pt x="10504620" y="0"/>
                </a:lnTo>
                <a:lnTo>
                  <a:pt x="10504620" y="5555858"/>
                </a:lnTo>
                <a:lnTo>
                  <a:pt x="0" y="5555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40025"/>
            <a:ext cx="15902911" cy="218275"/>
          </a:xfrm>
          <a:custGeom>
            <a:avLst/>
            <a:gdLst/>
            <a:ahLst/>
            <a:cxnLst/>
            <a:rect r="r" b="b" t="t" l="l"/>
            <a:pathLst>
              <a:path h="218275" w="15902911">
                <a:moveTo>
                  <a:pt x="0" y="0"/>
                </a:moveTo>
                <a:lnTo>
                  <a:pt x="15902911" y="0"/>
                </a:lnTo>
                <a:lnTo>
                  <a:pt x="15902911" y="218275"/>
                </a:lnTo>
                <a:lnTo>
                  <a:pt x="0" y="218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9999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3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406" y="221312"/>
            <a:ext cx="17864821" cy="9791558"/>
          </a:xfrm>
          <a:custGeom>
            <a:avLst/>
            <a:gdLst/>
            <a:ahLst/>
            <a:cxnLst/>
            <a:rect r="r" b="b" t="t" l="l"/>
            <a:pathLst>
              <a:path h="9791558" w="17864821">
                <a:moveTo>
                  <a:pt x="0" y="0"/>
                </a:moveTo>
                <a:lnTo>
                  <a:pt x="17864821" y="0"/>
                </a:lnTo>
                <a:lnTo>
                  <a:pt x="17864821" y="9791558"/>
                </a:lnTo>
                <a:lnTo>
                  <a:pt x="0" y="9791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92939" y="1028700"/>
            <a:ext cx="14302121" cy="5731497"/>
          </a:xfrm>
          <a:custGeom>
            <a:avLst/>
            <a:gdLst/>
            <a:ahLst/>
            <a:cxnLst/>
            <a:rect r="r" b="b" t="t" l="l"/>
            <a:pathLst>
              <a:path h="5731497" w="14302121">
                <a:moveTo>
                  <a:pt x="0" y="0"/>
                </a:moveTo>
                <a:lnTo>
                  <a:pt x="14302122" y="0"/>
                </a:lnTo>
                <a:lnTo>
                  <a:pt x="14302122" y="5731497"/>
                </a:lnTo>
                <a:lnTo>
                  <a:pt x="0" y="5731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57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9678" y="6722097"/>
            <a:ext cx="5688685" cy="70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682" indent="-221341" lvl="1">
              <a:lnSpc>
                <a:spcPts val="2870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Model: 72% overall.</a:t>
            </a:r>
          </a:p>
          <a:p>
            <a:pPr algn="just" marL="442682" indent="-221341" lvl="1">
              <a:lnSpc>
                <a:spcPts val="2870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Class Imbalance:  High precision for plays.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92220" y="6740398"/>
            <a:ext cx="5523993" cy="691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343" indent="-212171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Limitation: Small skip sample size</a:t>
            </a:r>
          </a:p>
          <a:p>
            <a:pPr algn="just" marL="424343" indent="-212171" lvl="1">
              <a:lnSpc>
                <a:spcPts val="2751"/>
              </a:lnSpc>
              <a:buFont typeface="Arial"/>
              <a:buChar char="•"/>
            </a:pPr>
            <a:r>
              <a:rPr lang="en-US" sz="196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Conclusion: Context predicts engagement.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436" y="509083"/>
            <a:ext cx="16567129" cy="9268834"/>
          </a:xfrm>
          <a:custGeom>
            <a:avLst/>
            <a:gdLst/>
            <a:ahLst/>
            <a:cxnLst/>
            <a:rect r="r" b="b" t="t" l="l"/>
            <a:pathLst>
              <a:path h="9268834" w="16567129">
                <a:moveTo>
                  <a:pt x="0" y="0"/>
                </a:moveTo>
                <a:lnTo>
                  <a:pt x="16567128" y="0"/>
                </a:lnTo>
                <a:lnTo>
                  <a:pt x="16567128" y="9268834"/>
                </a:lnTo>
                <a:lnTo>
                  <a:pt x="0" y="9268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40813" y="8093144"/>
            <a:ext cx="4415087" cy="548984"/>
            <a:chOff x="0" y="0"/>
            <a:chExt cx="895174" cy="1113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5174" cy="111308"/>
            </a:xfrm>
            <a:custGeom>
              <a:avLst/>
              <a:gdLst/>
              <a:ahLst/>
              <a:cxnLst/>
              <a:rect r="r" b="b" t="t" l="l"/>
              <a:pathLst>
                <a:path h="111308" w="895174">
                  <a:moveTo>
                    <a:pt x="34248" y="0"/>
                  </a:moveTo>
                  <a:lnTo>
                    <a:pt x="860926" y="0"/>
                  </a:lnTo>
                  <a:cubicBezTo>
                    <a:pt x="870009" y="0"/>
                    <a:pt x="878720" y="3608"/>
                    <a:pt x="885143" y="10031"/>
                  </a:cubicBezTo>
                  <a:cubicBezTo>
                    <a:pt x="891566" y="16454"/>
                    <a:pt x="895174" y="25165"/>
                    <a:pt x="895174" y="34248"/>
                  </a:cubicBezTo>
                  <a:lnTo>
                    <a:pt x="895174" y="77060"/>
                  </a:lnTo>
                  <a:cubicBezTo>
                    <a:pt x="895174" y="86143"/>
                    <a:pt x="891566" y="94854"/>
                    <a:pt x="885143" y="101277"/>
                  </a:cubicBezTo>
                  <a:cubicBezTo>
                    <a:pt x="878720" y="107700"/>
                    <a:pt x="870009" y="111308"/>
                    <a:pt x="860926" y="111308"/>
                  </a:cubicBezTo>
                  <a:lnTo>
                    <a:pt x="34248" y="111308"/>
                  </a:lnTo>
                  <a:cubicBezTo>
                    <a:pt x="25165" y="111308"/>
                    <a:pt x="16454" y="107700"/>
                    <a:pt x="10031" y="101277"/>
                  </a:cubicBezTo>
                  <a:cubicBezTo>
                    <a:pt x="3608" y="94854"/>
                    <a:pt x="0" y="86143"/>
                    <a:pt x="0" y="77060"/>
                  </a:cubicBezTo>
                  <a:lnTo>
                    <a:pt x="0" y="34248"/>
                  </a:lnTo>
                  <a:cubicBezTo>
                    <a:pt x="0" y="25165"/>
                    <a:pt x="3608" y="16454"/>
                    <a:pt x="10031" y="10031"/>
                  </a:cubicBezTo>
                  <a:cubicBezTo>
                    <a:pt x="16454" y="3608"/>
                    <a:pt x="25165" y="0"/>
                    <a:pt x="34248" y="0"/>
                  </a:cubicBezTo>
                  <a:close/>
                </a:path>
              </a:pathLst>
            </a:custGeom>
            <a:solidFill>
              <a:srgbClr val="352E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95174" cy="168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710"/>
                </a:lnSpc>
              </a:pPr>
              <a:r>
                <a:rPr lang="en-US" sz="265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 Longitudinal Study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376957" cy="8516151"/>
          </a:xfrm>
          <a:custGeom>
            <a:avLst/>
            <a:gdLst/>
            <a:ahLst/>
            <a:cxnLst/>
            <a:rect r="r" b="b" t="t" l="l"/>
            <a:pathLst>
              <a:path h="8516151" w="18376957">
                <a:moveTo>
                  <a:pt x="0" y="0"/>
                </a:moveTo>
                <a:lnTo>
                  <a:pt x="18376957" y="0"/>
                </a:lnTo>
                <a:lnTo>
                  <a:pt x="18376957" y="8516151"/>
                </a:lnTo>
                <a:lnTo>
                  <a:pt x="0" y="8516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62016" y="8239138"/>
            <a:ext cx="5837123" cy="516074"/>
            <a:chOff x="0" y="0"/>
            <a:chExt cx="1201054" cy="1061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1054" cy="106188"/>
            </a:xfrm>
            <a:custGeom>
              <a:avLst/>
              <a:gdLst/>
              <a:ahLst/>
              <a:cxnLst/>
              <a:rect r="r" b="b" t="t" l="l"/>
              <a:pathLst>
                <a:path h="106188" w="1201054">
                  <a:moveTo>
                    <a:pt x="25905" y="0"/>
                  </a:moveTo>
                  <a:lnTo>
                    <a:pt x="1175149" y="0"/>
                  </a:lnTo>
                  <a:cubicBezTo>
                    <a:pt x="1182020" y="0"/>
                    <a:pt x="1188609" y="2729"/>
                    <a:pt x="1193467" y="7587"/>
                  </a:cubicBezTo>
                  <a:cubicBezTo>
                    <a:pt x="1198325" y="12445"/>
                    <a:pt x="1201054" y="19034"/>
                    <a:pt x="1201054" y="25905"/>
                  </a:cubicBezTo>
                  <a:lnTo>
                    <a:pt x="1201054" y="80283"/>
                  </a:lnTo>
                  <a:cubicBezTo>
                    <a:pt x="1201054" y="87154"/>
                    <a:pt x="1198325" y="93743"/>
                    <a:pt x="1193467" y="98601"/>
                  </a:cubicBezTo>
                  <a:cubicBezTo>
                    <a:pt x="1188609" y="103459"/>
                    <a:pt x="1182020" y="106188"/>
                    <a:pt x="1175149" y="106188"/>
                  </a:cubicBezTo>
                  <a:lnTo>
                    <a:pt x="25905" y="106188"/>
                  </a:lnTo>
                  <a:cubicBezTo>
                    <a:pt x="19034" y="106188"/>
                    <a:pt x="12445" y="103459"/>
                    <a:pt x="7587" y="98601"/>
                  </a:cubicBezTo>
                  <a:cubicBezTo>
                    <a:pt x="2729" y="93743"/>
                    <a:pt x="0" y="87154"/>
                    <a:pt x="0" y="80283"/>
                  </a:cubicBezTo>
                  <a:lnTo>
                    <a:pt x="0" y="25905"/>
                  </a:lnTo>
                  <a:cubicBezTo>
                    <a:pt x="0" y="19034"/>
                    <a:pt x="2729" y="12445"/>
                    <a:pt x="7587" y="7587"/>
                  </a:cubicBezTo>
                  <a:cubicBezTo>
                    <a:pt x="12445" y="2729"/>
                    <a:pt x="19034" y="0"/>
                    <a:pt x="25905" y="0"/>
                  </a:cubicBezTo>
                  <a:close/>
                </a:path>
              </a:pathLst>
            </a:custGeom>
            <a:solidFill>
              <a:srgbClr val="23212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01054" cy="144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0"/>
                </a:lnSpc>
              </a:pPr>
              <a:r>
                <a:rPr lang="en-US" sz="205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pagdangananxp@students.national-u.edu.ph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DAHBq_u1FFU</dc:identifier>
  <dcterms:modified xsi:type="dcterms:W3CDTF">2011-08-01T06:04:30Z</dcterms:modified>
  <cp:revision>1</cp:revision>
  <dc:title>Temporal and Behavioral Factors Driving Song Skip Predictions in Personal Spotify Streaming Data(UPDATED)</dc:title>
</cp:coreProperties>
</file>